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BTX revenue ($M)</c:v>
                </c:pt>
              </c:strCache>
            </c:strRef>
          </c:tx>
          <c:spPr>
            <a:solidFill>
              <a:srgbClr val="2FB6A8"/>
            </a:solidFill>
            <a:effectLst/>
          </c:spPr>
          <c:invertIfNegative val="0"/>
          <c:dLbls>
            <c:numFmt formatCode="&quot;$&quot;0.0&quot;M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263A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6.1</c:v>
                </c:pt>
                <c:pt idx="2">
                  <c:v>7.8</c:v>
                </c:pt>
              </c:numCache>
            </c:numRef>
          </c:val>
        </c:ser>
        <c:dLbls>
          <c:numFmt formatCode="&quot;$&quot;0.0&quot;M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2263A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787"/>
                    </a:solidFill>
                    <a:latin typeface="Inter"/>
                  </a:defRPr>
                </a:pPr>
                <a:r>
                  <a:rPr sz="900" b="0" i="0" u="none" strike="noStrike">
                    <a:solidFill>
                      <a:srgbClr val="6B7787"/>
                    </a:solidFill>
                    <a:latin typeface="Inter"/>
                  </a:rPr>
                  <a:t>Fiscal year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787"/>
                    </a:solidFill>
                    <a:latin typeface="Inter"/>
                  </a:defRPr>
                </a:pPr>
                <a:r>
                  <a:rPr sz="900" b="0" i="0" u="none" strike="noStrike">
                    <a:solidFill>
                      <a:srgbClr val="6B7787"/>
                    </a:solidFill>
                    <a:latin typeface="Inter"/>
                  </a:rPr>
                  <a:t>$ millions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 value ($M/yr)</c:v>
                </c:pt>
              </c:strCache>
            </c:strRef>
          </c:tx>
          <c:spPr>
            <a:solidFill>
              <a:srgbClr val="3E7CB1"/>
            </a:solidFill>
            <a:effectLst/>
          </c:spPr>
          <c:invertIfNegative val="0"/>
          <c:dLbls>
            <c:numFmt formatCode="&quot;$&quot;0.0&quot;M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263A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1.9</c:v>
                </c:pt>
                <c:pt idx="1">
                  <c:v>2.6</c:v>
                </c:pt>
                <c:pt idx="2">
                  <c:v>3.2</c:v>
                </c:pt>
              </c:numCache>
            </c:numRef>
          </c:val>
        </c:ser>
        <c:dLbls>
          <c:numFmt formatCode="&quot;$&quot;0.0&quot;M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2263A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787"/>
                    </a:solidFill>
                    <a:latin typeface="Inter"/>
                  </a:defRPr>
                </a:pPr>
                <a:r>
                  <a:rPr sz="900" b="0" i="0" u="none" strike="noStrike">
                    <a:solidFill>
                      <a:srgbClr val="6B7787"/>
                    </a:solidFill>
                    <a:latin typeface="Inter"/>
                  </a:rPr>
                  <a:t>Fiscal year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787"/>
                    </a:solidFill>
                    <a:latin typeface="Inter"/>
                  </a:defRPr>
                </a:pPr>
                <a:r>
                  <a:rPr sz="900" b="0" i="0" u="none" strike="noStrike">
                    <a:solidFill>
                      <a:srgbClr val="6B7787"/>
                    </a:solidFill>
                    <a:latin typeface="Inter"/>
                  </a:rPr>
                  <a:t>$ millions / year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BTX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88720" y="1810512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Lockheed Martin · F-35 SUSTAINMENT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domestic 5-axis partner with AS9100 capacity available now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EC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Build-to-print spares delivered with a 99.2% on-time record and open capacity to take load off your schedule this quarter.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5943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EC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Prepared for a supply-chain introduction ·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37744" cy="237744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212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CASE IN FIGURES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412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partnership is worth to both sides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508760"/>
          <a:ext cx="53949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98348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Figure 1.  </a:t>
            </a:r>
            <a:pPr indent="0" marL="0">
              <a:buNone/>
            </a:pPr>
            <a:r>
              <a:rPr lang="en-US" sz="9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Projected BTX revenue from the account, internal view. X-axis: Fiscal year; Y-axis: $ millions. Projection uses qualified pipeline and account-fit assumptions. Summary: Revenue ramps to $7.8M by FY28 as lot-19 spares scale.</a:t>
            </a:r>
            <a:endParaRPr lang="en-US" sz="9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17920" y="1508760"/>
          <a:ext cx="53949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6217920" y="498348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Figure 2.  </a:t>
            </a:r>
            <a:pPr indent="0" marL="0">
              <a:buNone/>
            </a:pPr>
            <a:r>
              <a:rPr lang="en-US" sz="9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Projected value to the client, external view. X-axis: Fiscal year; Y-axis: $ millions / year. Projection uses qualified pipeline and account-fit assumptions. Summary: Value reflects expedite avoidance, scrap reduction, and dual-source risk relief.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BTX Precision Machining   ·   Sales pitch · Illustrative sample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37744" cy="237744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212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412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20-minute introduction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0520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057400"/>
            <a:ext cx="457200" cy="457200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286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Intro call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3246120"/>
            <a:ext cx="286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 your build-to-print spares scope and our current capacity windows.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8160" y="1737360"/>
            <a:ext cx="350520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8200" y="2057400"/>
            <a:ext cx="457200" cy="457200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82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48200" y="2743200"/>
            <a:ext cx="286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Capability review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48200" y="3246120"/>
            <a:ext cx="286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AS9100 / ITAR docs, sample first articles, and quality record.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07680" y="1737360"/>
            <a:ext cx="350520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27720" y="2057400"/>
            <a:ext cx="457200" cy="457200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772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427720" y="2743200"/>
            <a:ext cx="286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package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27720" y="3246120"/>
            <a:ext cx="286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Quote a first lot-19 spares package against your priority parts.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0292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029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step: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with a 20-minute window, or we can hold two options for your team this week.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BTX Precision Machining   ·   Sales pitch · Illustrative sample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BTX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BTX Precision Machining</dc:subject>
  <dc:creator>BTX Revenue Brain</dc:creator>
  <cp:lastModifiedBy>BTX Revenue Brain</cp:lastModifiedBy>
  <cp:revision>1</cp:revision>
  <dcterms:created xsi:type="dcterms:W3CDTF">2026-07-12T13:05:06Z</dcterms:created>
  <dcterms:modified xsi:type="dcterms:W3CDTF">2026-07-12T13:05:06Z</dcterms:modified>
</cp:coreProperties>
</file>