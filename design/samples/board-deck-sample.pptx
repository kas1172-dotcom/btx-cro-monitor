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 ($M)</c:v>
                </c:pt>
              </c:strCache>
            </c:strRef>
          </c:tx>
          <c:spPr>
            <a:solidFill>
              <a:srgbClr val="2FB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3A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Q4 FY25</c:v>
                  </c:pt>
                  <c:pt idx="1">
                    <c:v>Q1 FY26</c:v>
                  </c:pt>
                  <c:pt idx="2">
                    <c:v>Q2 FY26</c:v>
                  </c:pt>
                  <c:pt idx="3">
                    <c:v>Q3 FY26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14.2</c:v>
                </c:pt>
                <c:pt idx="1">
                  <c:v>15.1</c:v>
                </c:pt>
                <c:pt idx="2">
                  <c:v>16.4</c:v>
                </c:pt>
                <c:pt idx="3">
                  <c:v>18.4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Backlog ($M)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3A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Q4 FY25</c:v>
                  </c:pt>
                  <c:pt idx="1">
                    <c:v>Q1 FY26</c:v>
                  </c:pt>
                  <c:pt idx="2">
                    <c:v>Q2 FY26</c:v>
                  </c:pt>
                  <c:pt idx="3">
                    <c:v>Q3 FY26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</c:v>
                </c:pt>
                <c:pt idx="1">
                  <c:v>40.2</c:v>
                </c:pt>
                <c:pt idx="2">
                  <c:v>41.1</c:v>
                </c:pt>
                <c:pt idx="3">
                  <c:v>44.6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63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1000" b="0" i="0" u="none" strike="noStrike">
                    <a:solidFill>
                      <a:srgbClr val="6B7787"/>
                    </a:solidFill>
                    <a:latin typeface="Inter"/>
                  </a:rPr>
                  <a:t>Fiscal quarter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7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1000" b="0" i="0" u="none" strike="noStrike">
                    <a:solidFill>
                      <a:srgbClr val="6B7787"/>
                    </a:solidFill>
                    <a:latin typeface="Inter"/>
                  </a:rPr>
                  <a:t>$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B7787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 %</c:v>
                </c:pt>
              </c:strCache>
            </c:strRef>
          </c:tx>
          <c:spPr>
            <a:solidFill>
              <a:srgbClr val="2FB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3A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B6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7CB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B6A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Fort Worth</c:v>
                  </c:pt>
                  <c:pt idx="1">
                    <c:v>Wichita</c:v>
                  </c:pt>
                  <c:pt idx="2">
                    <c:v>Tulsa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</c:v>
                </c:pt>
                <c:pt idx="1">
                  <c:v>88</c:v>
                </c:pt>
                <c:pt idx="2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63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1000" b="0" i="0" u="none" strike="noStrike">
                    <a:solidFill>
                      <a:srgbClr val="6B7787"/>
                    </a:solidFill>
                    <a:latin typeface="Inter"/>
                  </a:rPr>
                  <a:t>Facility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7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1000" b="0" i="0" u="none" strike="noStrike">
                    <a:solidFill>
                      <a:srgbClr val="6B7787"/>
                    </a:solidFill>
                    <a:latin typeface="Inter"/>
                  </a:rPr>
                  <a:t>Capacity utilization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BTX Revenue Brain quarterly board review. All figures illustrative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8720" y="199339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BRAIN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Revenue &amp; Account Board Review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Signal-to-action intelligence for precision machining &amp; defense supply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 · Q3 Board Packet</a:t>
            </a:r>
            <a:pPr indent="0" marL="0">
              <a:buNone/>
            </a:pPr>
            <a:r>
              <a:rPr lang="en-US" sz="1200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quarter in four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810512"/>
            <a:ext cx="146304" cy="146304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3852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$18.4M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04672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798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+12% vs prior quarter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810512"/>
            <a:ext cx="146304" cy="146304"/>
          </a:xfrm>
          <a:prstGeom prst="ellipse">
            <a:avLst/>
          </a:prstGeom>
          <a:solidFill>
            <a:srgbClr val="3FA66A"/>
          </a:solidFill>
          <a:ln w="12700">
            <a:solidFill>
              <a:srgbClr val="3FA6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93852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02152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Book-to-bill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02152" y="2798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Above 1.0 target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810512"/>
            <a:ext cx="146304" cy="146304"/>
          </a:xfrm>
          <a:prstGeom prst="ellipse">
            <a:avLst/>
          </a:prstGeom>
          <a:solidFill>
            <a:srgbClr val="E0A93B"/>
          </a:solidFill>
          <a:ln w="12700">
            <a:solidFill>
              <a:srgbClr val="E0A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93852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99632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used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99632" y="2798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Approaching ceiling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41080" y="15544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97112" y="1810512"/>
            <a:ext cx="146304" cy="14630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0536" y="193852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$42.1M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897112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 pipeline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97112" y="2798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3.1x coverage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 this quarter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164592" cy="164592"/>
          </a:xfrm>
          <a:prstGeom prst="ellipse">
            <a:avLst/>
          </a:prstGeom>
          <a:solidFill>
            <a:srgbClr val="3FA66A"/>
          </a:solidFill>
          <a:ln w="12700">
            <a:solidFill>
              <a:srgbClr val="3FA6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785616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F-35 sustainment demand is accelerating   </a:t>
            </a:r>
            <a:pPr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Lockheed lot-19 spares create a build-to-print opening matched to BTX 5-axis capacity.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544568"/>
            <a:ext cx="164592" cy="164592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44398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tier-1 supplier delay opens a re-shore lane   </a:t>
            </a:r>
            <a:pPr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Spirit AeroSystems structures slip; two programs need a domestic AS9100 machining partner.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202936"/>
            <a:ext cx="164592" cy="164592"/>
          </a:xfrm>
          <a:prstGeom prst="ellipse">
            <a:avLst/>
          </a:prstGeom>
          <a:solidFill>
            <a:srgbClr val="E0A93B"/>
          </a:solidFill>
          <a:ln w="12700">
            <a:solidFill>
              <a:srgbClr val="E0A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1023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is the binding constraint, not demand   </a:t>
            </a:r>
            <a:pPr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facilities cross 90% utilization; winning more requires a capacity decision.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   ·   Confidential · Illustrative sample data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SNAPSHOT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Bookings and backlog trend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6949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4864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1.  </a:t>
            </a:r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Bookings and backlog by fiscal quarter. X-axis: Fiscal quarter; Y-axis: $ millions. Bookings and backlog show whether demand is adding durable work or replacing shipped volume. Summary: Bookings rose to $18.4M while backlog expanded, indicating capacity-limited conversion.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772400" y="1554480"/>
            <a:ext cx="3840480" cy="44805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Backlog is growing faster than bookings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0" y="27889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is not the problem; converting backlog against finite capacity is. The board decision this quarter is capacity, covered later in the deck.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5468112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E7F4F2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5550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E8C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955280" y="5724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artifact to Lockheed Martin Corp (CAGE 81755)</a:t>
            </a:r>
            <a:pPr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match: cage uei   ·   high confidence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   ·   Confidential · Illustrative sample data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IN FOCUS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Lockheed Martin: F-35 sustainment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778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fit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017520" y="21488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5-axis CNC · build-to-print · AS9100 · ITAR-registered, matched against lot-19 spares scope.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1682496" cy="256032"/>
          </a:xfrm>
          <a:prstGeom prst="roundRect">
            <a:avLst>
              <a:gd name="adj" fmla="val 500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4612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ACCOUNT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324612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3FA66A"/>
          </a:solidFill>
          <a:ln w="12700">
            <a:solidFill>
              <a:srgbClr val="3FA6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246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AWARD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signal: Lockheed awards F-35 lot-19 sustainment; spares volume rises into FY27.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12140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 build-to-print RFQ conversation on lot-19 spares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 Sales</a:t>
            </a:r>
            <a:pPr indent="0" marL="0">
              <a:buNone/>
            </a:pPr>
            <a:r>
              <a:rPr lang="en-US" sz="1200" b="1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Due: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business days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7F4F2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542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E8C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" y="48280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artifact to Lockheed Martin Corp (CAGE 81755)</a:t>
            </a:r>
            <a:pPr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match: cage uei   ·   high confidence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   ·   Confidential · Illustrative sample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SIGNALS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changed, tiered by relevance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65960"/>
            <a:ext cx="182880" cy="182880"/>
          </a:xfrm>
          <a:prstGeom prst="ellipse">
            <a:avLst/>
          </a:prstGeom>
          <a:solidFill>
            <a:srgbClr val="3FA66A"/>
          </a:solidFill>
          <a:ln w="12700">
            <a:solidFill>
              <a:srgbClr val="3FA6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72821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Lockheed F-35 lot-19 sustainment award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09397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artifact to Lockheed Martin Corp (CAGE 81755) · cage uei · high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784080" y="1929384"/>
            <a:ext cx="1682496" cy="256032"/>
          </a:xfrm>
          <a:prstGeom prst="roundRect">
            <a:avLst>
              <a:gd name="adj" fmla="val 50000"/>
            </a:avLst>
          </a:prstGeom>
          <a:solidFill>
            <a:srgbClr val="3FA66A"/>
          </a:solidFill>
          <a:ln w="12700">
            <a:solidFill>
              <a:srgbClr val="3FA6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0" y="192938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ACCOUNT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999232"/>
            <a:ext cx="182880" cy="182880"/>
          </a:xfrm>
          <a:prstGeom prst="ellipse">
            <a:avLst/>
          </a:prstGeom>
          <a:solidFill>
            <a:srgbClr val="E0A93B"/>
          </a:solidFill>
          <a:ln w="12700">
            <a:solidFill>
              <a:srgbClr val="E0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7614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Spirit AeroSystems structures schedule slip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88720" y="3127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 match · medium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784080" y="2962656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0A93B"/>
          </a:solidFill>
          <a:ln w="12700">
            <a:solidFill>
              <a:srgbClr val="E0A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29626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66674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032504"/>
            <a:ext cx="182880" cy="18288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794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DoD FY27 budget lifts precision-component demand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88720" y="41605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Portfolio-level · unlinked · n/a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784080" y="399592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39959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47000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5065776"/>
            <a:ext cx="182880" cy="18288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8280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ITAR guidance on machining data handling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88720" y="51937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Portfolio-level · unlinked · n/a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84080" y="502920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0" y="5029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   ·   Confidential · Illustrative sample data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binding constraint on growth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6949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4864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2.  </a:t>
            </a:r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capacity utilization, current quarter. X-axis: Facility; Y-axis: Capacity utilization (%). Facility utilization shows whether demand can be absorbed without schedule risk. Summary: Fort Worth at 93% is the binding constraint; Tulsa has headroom but lacks the required line.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772400" y="1554480"/>
            <a:ext cx="3840480" cy="44805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 Worth is effectively full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0" y="27889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93% utilization, the F-35 opportunity cannot be absorbed without a second shift or capital add.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5468112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E7F4F2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5550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E8C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955280" y="5724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artifact to Lockheed Martin Corp (CAGE 81755)</a:t>
            </a:r>
            <a:pPr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match: cage uei   ·   high confidence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   ·   Confidential · Illustrative sample data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WATCH ITEMS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could bend the number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05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274320" cy="274320"/>
          </a:xfrm>
          <a:prstGeom prst="ellipse">
            <a:avLst/>
          </a:prstGeom>
          <a:solidFill>
            <a:srgbClr val="D6533C"/>
          </a:solidFill>
          <a:ln w="12700">
            <a:solidFill>
              <a:srgbClr val="D65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14600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ceiling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286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Winning F-35 without added capacity risks on-time delivery on existing backlog.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8160" y="1737360"/>
            <a:ext cx="3505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8200" y="2057400"/>
            <a:ext cx="274320" cy="274320"/>
          </a:xfrm>
          <a:prstGeom prst="ellipse">
            <a:avLst/>
          </a:prstGeom>
          <a:solidFill>
            <a:srgbClr val="E0A93B"/>
          </a:solidFill>
          <a:ln w="12700">
            <a:solidFill>
              <a:srgbClr val="E0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8200" y="2514600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Single-prime concentration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48200" y="3200400"/>
            <a:ext cx="286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Lockheed would exceed 40% of bookings; diversify with the Spirit re-shore lane.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7680" y="1737360"/>
            <a:ext cx="3505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7720" y="2057400"/>
            <a:ext cx="274320" cy="274320"/>
          </a:xfrm>
          <a:prstGeom prst="ellipse">
            <a:avLst/>
          </a:prstGeom>
          <a:solidFill>
            <a:srgbClr val="E0A93B"/>
          </a:solidFill>
          <a:ln w="12700">
            <a:solidFill>
              <a:srgbClr val="E0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7720" y="2514600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ITAR data-handling change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27720" y="3200400"/>
            <a:ext cx="286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guidance may add compliance cost to machining-data workflows; assess by Q4.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   ·   Confidential · Illustrative sample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ACTIONS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 next, and who owns it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926080"/>
                <a:gridCol w="201168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Account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 lot-19 build-to-print RFQ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Lockheed Martin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 Sales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 days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 Fort Worth second shift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Internal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COO / Board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This quarter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Qualify Spirit re-shore lane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Spirit AeroSystems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BD Lead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weeks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Scope ITAR data-handling change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Internal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Compliance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7F4F2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2943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E8C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31520" y="5468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artifact to Lockheed Martin Corp (CAGE 81755)</a:t>
            </a:r>
            <a:pPr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match: cage uei   ·   high confidence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   ·   Confidential · Illustrative sample data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 this quarter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a Fort Worth second shift to convert the F-35 sustainment opening. The demand is evidenced, the fit is 91%, and capacity is the only thing standing between backlog and bookings.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806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HubSpot CRM · monitor-engine market artifacts · ERP capacity · SAM.gov entity registry. Account links resolved via canonical relationship records. Figures illustrative.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BTX Revenue Brain</dc:subject>
  <dc:creator>BTX Revenue Brain</dc:creator>
  <cp:lastModifiedBy>BTX Revenue Brain</cp:lastModifiedBy>
  <cp:revision>1</cp:revision>
  <dcterms:created xsi:type="dcterms:W3CDTF">2026-07-12T13:05:06Z</dcterms:created>
  <dcterms:modified xsi:type="dcterms:W3CDTF">2026-07-12T13:05:06Z</dcterms:modified>
</cp:coreProperties>
</file>