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Bookings ($M)</c:v>
                </c:pt>
              </c:strCache>
            </c:strRef>
          </c:tx>
          <c:spPr>
            <a:solidFill>
              <a:srgbClr val="2FB6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Q4 FY25</c:v>
                  </c:pt>
                  <c:pt idx="1">
                    <c:v>Q1 FY26</c:v>
                  </c:pt>
                  <c:pt idx="2">
                    <c:v>Q2 FY26</c:v>
                  </c:pt>
                  <c:pt idx="3">
                    <c:v>Q3 FY26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14.2</c:v>
                </c:pt>
                <c:pt idx="1">
                  <c:v>15.1</c:v>
                </c:pt>
                <c:pt idx="2">
                  <c:v>16.4</c:v>
                </c:pt>
                <c:pt idx="3">
                  <c:v>18.4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Backlog ($M)</c:v>
                </c:pt>
              </c:strCache>
            </c:strRef>
          </c:tx>
          <c:spPr>
            <a:solidFill>
              <a:srgbClr val="3E7CB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Q4 FY25</c:v>
                  </c:pt>
                  <c:pt idx="1">
                    <c:v>Q1 FY26</c:v>
                  </c:pt>
                  <c:pt idx="2">
                    <c:v>Q2 FY26</c:v>
                  </c:pt>
                  <c:pt idx="3">
                    <c:v>Q3 FY26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</c:v>
                </c:pt>
                <c:pt idx="1">
                  <c:v>40.2</c:v>
                </c:pt>
                <c:pt idx="2">
                  <c:v>41.1</c:v>
                </c:pt>
                <c:pt idx="3">
                  <c:v>44.6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1000" b="0" i="0" u="none" strike="noStrike">
                    <a:solidFill>
                      <a:srgbClr val="6B7787"/>
                    </a:solidFill>
                    <a:latin typeface="Inter"/>
                  </a:rPr>
                  <a:t>Fiscal quarter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1000" b="0" i="0" u="none" strike="noStrike">
                    <a:solidFill>
                      <a:srgbClr val="6B7787"/>
                    </a:solidFill>
                    <a:latin typeface="Inter"/>
                  </a:rPr>
                  <a:t>$ millions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787"/>
              </a:solidFill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 %</c:v>
                </c:pt>
              </c:strCache>
            </c:strRef>
          </c:tx>
          <c:spPr>
            <a:solidFill>
              <a:srgbClr val="2FB6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B6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E7C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B6A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Fort Worth</c:v>
                  </c:pt>
                  <c:pt idx="1">
                    <c:v>Wichita</c:v>
                  </c:pt>
                  <c:pt idx="2">
                    <c:v>Tulsa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</c:v>
                </c:pt>
                <c:pt idx="1">
                  <c:v>88</c:v>
                </c:pt>
                <c:pt idx="2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1000" b="0" i="0" u="none" strike="noStrike">
                    <a:solidFill>
                      <a:srgbClr val="6B7787"/>
                    </a:solidFill>
                    <a:latin typeface="Inter"/>
                  </a:rPr>
                  <a:t>Facility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7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787"/>
                    </a:solidFill>
                    <a:latin typeface="Inter"/>
                  </a:defRPr>
                </a:pPr>
                <a:r>
                  <a:rPr sz="1000" b="0" i="0" u="none" strike="noStrike">
                    <a:solidFill>
                      <a:srgbClr val="6B7787"/>
                    </a:solidFill>
                    <a:latin typeface="Inter"/>
                  </a:rPr>
                  <a:t>Capacity utilization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BTX Revenue Brain quarterly board review. All figures illustrative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199339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BRAIN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Quarterly Revenue &amp; Account Board Review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Signal-to-action intelligence for precision machining &amp; defense supply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521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FY26 · Q3 Board Packet</a:t>
            </a:r>
            <a:pPr indent="0" marL="0">
              <a:buNone/>
            </a:pPr>
            <a:r>
              <a:rPr lang="en-US" sz="12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quarter in four numbers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810512"/>
            <a:ext cx="146304" cy="14630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938528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$18.4M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04672" y="25786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279806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+12% vs prior quarter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02152" y="1810512"/>
            <a:ext cx="146304" cy="146304"/>
          </a:xfrm>
          <a:prstGeom prst="ellipse">
            <a:avLst/>
          </a:prstGeom>
          <a:solidFill>
            <a:srgbClr val="3FA66A"/>
          </a:solidFill>
          <a:ln w="12700">
            <a:solidFill>
              <a:srgbClr val="3FA6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1938528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1.18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02152" y="25786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Book-to-bill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02152" y="279806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Above 1.0 target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0" y="155448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9632" y="1810512"/>
            <a:ext cx="146304" cy="146304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3056" y="1938528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199632" y="25786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used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99632" y="279806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Approaching ceiling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41080" y="1554480"/>
            <a:ext cx="25146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97112" y="1810512"/>
            <a:ext cx="146304" cy="146304"/>
          </a:xfrm>
          <a:prstGeom prst="ellipse">
            <a:avLst/>
          </a:prstGeom>
          <a:solidFill>
            <a:srgbClr val="3E7CB1"/>
          </a:solidFill>
          <a:ln w="12700">
            <a:solidFill>
              <a:srgbClr val="3E7C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0536" y="1938528"/>
            <a:ext cx="20756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$42.1M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897112" y="257860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Qualified pipeline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897112" y="279806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3.1x coverage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3429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 this quarter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164592" cy="164592"/>
          </a:xfrm>
          <a:prstGeom prst="ellipse">
            <a:avLst/>
          </a:prstGeom>
          <a:solidFill>
            <a:srgbClr val="3FA66A"/>
          </a:solidFill>
          <a:ln w="12700">
            <a:solidFill>
              <a:srgbClr val="3FA6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3785616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F-35 sustainment demand is accelerating   </a:t>
            </a:r>
            <a:pPr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Lockheed lot-19 spares create a build-to-print opening matched to BTX 5-axis capacity.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544568"/>
            <a:ext cx="164592" cy="164592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43984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tier-1 supplier delay opens a re-shore lane   </a:t>
            </a:r>
            <a:pPr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Spirit AeroSystems structures slip; two programs need a domestic AS9100 machining partner.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202936"/>
            <a:ext cx="164592" cy="164592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5102352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is the binding constraint, not demand   </a:t>
            </a:r>
            <a:pPr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facilities cross 90% utilization; winning more requires a capacity decision.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SNAPSHOT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Bookings and backlog trend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864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1.  </a:t>
            </a:r>
            <a:pPr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Bookings and backlog by fiscal quarter. X-axis: Fiscal quarter; Y-axis: $ millions. Bookings and backlog show whether demand is adding durable work or replacing shipped volume. Summary: Bookings rose to $18.4M while backlog expanded, indicating capacity-limited conversion.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772400" y="1554480"/>
            <a:ext cx="3840480" cy="44805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Backlog is growing faster than bookings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0" y="27889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Demand is not the problem; converting backlog against finite capacity is. The board decision this quarter is capacity, covered later in the deck.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0" y="546811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E7F4F2"/>
          </a:solidFill>
          <a:ln w="12700">
            <a:solidFill>
              <a:srgbClr val="BFE3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0" y="5550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E8C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955280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artifact to Lockheed Martin Corp (CAGE 81755)</a:t>
            </a:r>
            <a:pPr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match: cage uei   ·   high confidence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ACCOUNT IN FOCUS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Lockheed Martin: F-35 sustainment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5778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Capability fit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017520" y="2148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5-axis CNC · build-to-print · AS9100 · ITAR-registered, matched against lot-19 spares scope.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243584" cy="256032"/>
          </a:xfrm>
          <a:prstGeom prst="roundRect">
            <a:avLst>
              <a:gd name="adj" fmla="val 5000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24612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ACCOUNT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286000" y="3246120"/>
            <a:ext cx="1106424" cy="256032"/>
          </a:xfrm>
          <a:prstGeom prst="roundRect">
            <a:avLst>
              <a:gd name="adj" fmla="val 50000"/>
            </a:avLst>
          </a:prstGeom>
          <a:solidFill>
            <a:srgbClr val="3FA66A"/>
          </a:solidFill>
          <a:ln w="12700">
            <a:solidFill>
              <a:srgbClr val="3FA6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3246120"/>
            <a:ext cx="1106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 AWARD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3611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signal: Lockheed awards F-35 lot-19 sustainment; spares volume rises into FY27.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ACTION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212140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build-to-print RFQ conversation on lot-19 spares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75120" y="3200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 Sales</a:t>
            </a:r>
            <a:pPr indent="0" marL="0">
              <a:buNone/>
            </a:pPr>
            <a:r>
              <a:rPr lang="en-US" sz="1200" b="1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Due: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business days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E7F4F2"/>
          </a:solidFill>
          <a:ln w="12700">
            <a:solidFill>
              <a:srgbClr val="BFE3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5429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E8C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31520" y="48280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artifact to Lockheed Martin Corp (CAGE 81755)</a:t>
            </a:r>
            <a:pPr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match: cage uei   ·   high confidence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SIGNALS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tiered by relevance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65960"/>
            <a:ext cx="182880" cy="182880"/>
          </a:xfrm>
          <a:prstGeom prst="ellipse">
            <a:avLst/>
          </a:prstGeom>
          <a:solidFill>
            <a:srgbClr val="3FA66A"/>
          </a:solidFill>
          <a:ln w="12700">
            <a:solidFill>
              <a:srgbClr val="3FA6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172821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Lockheed F-35 lot-19 sustainment award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939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artifact to Lockheed Martin Corp (CAGE 81755) · cage uei · high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784080" y="1929384"/>
            <a:ext cx="1243584" cy="256032"/>
          </a:xfrm>
          <a:prstGeom prst="roundRect">
            <a:avLst>
              <a:gd name="adj" fmla="val 50000"/>
            </a:avLst>
          </a:prstGeom>
          <a:solidFill>
            <a:srgbClr val="3FA66A"/>
          </a:solidFill>
          <a:ln w="12700">
            <a:solidFill>
              <a:srgbClr val="3FA6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0" y="1929384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ACCOUNT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63347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99232"/>
            <a:ext cx="182880" cy="182880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27614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Spirit AeroSystems structures schedule slip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 match · medium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784080" y="2962656"/>
            <a:ext cx="626364" cy="256032"/>
          </a:xfrm>
          <a:prstGeom prst="roundRect">
            <a:avLst>
              <a:gd name="adj" fmla="val 50000"/>
            </a:avLst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0" y="2962656"/>
            <a:ext cx="6263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666744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032504"/>
            <a:ext cx="182880" cy="182880"/>
          </a:xfrm>
          <a:prstGeom prst="ellipse">
            <a:avLst/>
          </a:prstGeom>
          <a:solidFill>
            <a:srgbClr val="3E7CB1"/>
          </a:solidFill>
          <a:ln w="12700">
            <a:solidFill>
              <a:srgbClr val="3E7CB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DoD FY27 budget lifts precision-component demand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41605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Portfolio-level · unlinked · n/a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784080" y="3995928"/>
            <a:ext cx="557784" cy="256032"/>
          </a:xfrm>
          <a:prstGeom prst="roundRect">
            <a:avLst>
              <a:gd name="adj" fmla="val 50000"/>
            </a:avLst>
          </a:prstGeom>
          <a:solidFill>
            <a:srgbClr val="3E7CB1"/>
          </a:solidFill>
          <a:ln w="12700">
            <a:solidFill>
              <a:srgbClr val="3E7C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84080" y="3995928"/>
            <a:ext cx="557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47000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5065776"/>
            <a:ext cx="182880" cy="182880"/>
          </a:xfrm>
          <a:prstGeom prst="ellipse">
            <a:avLst/>
          </a:prstGeom>
          <a:solidFill>
            <a:srgbClr val="3E7CB1"/>
          </a:solidFill>
          <a:ln w="12700">
            <a:solidFill>
              <a:srgbClr val="3E7CB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4828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ITAR guidance on machining data handling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519379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Portfolio-level · unlinked · n/a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784080" y="5029200"/>
            <a:ext cx="557784" cy="256032"/>
          </a:xfrm>
          <a:prstGeom prst="roundRect">
            <a:avLst>
              <a:gd name="adj" fmla="val 50000"/>
            </a:avLst>
          </a:prstGeom>
          <a:solidFill>
            <a:srgbClr val="3E7CB1"/>
          </a:solidFill>
          <a:ln w="12700">
            <a:solidFill>
              <a:srgbClr val="3E7C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0" y="5029200"/>
            <a:ext cx="557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binding constraint on growth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864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 2.  </a:t>
            </a:r>
            <a:pPr indent="0" marL="0">
              <a:buNone/>
            </a:pPr>
            <a:r>
              <a:rPr lang="en-US" sz="9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Facility capacity utilization, current quarter. X-axis: Facility; Y-axis: Capacity utilization (%). Facility utilization shows whether demand can be absorbed without schedule risk. Summary: Fort Worth at 93% is the binding constraint; Tulsa has headroom but lacks the required line.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772400" y="1554480"/>
            <a:ext cx="3840480" cy="44805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0" y="1783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Fort Worth is effectively full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046720" y="278892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93% utilization, the F-35 opportunity cannot be absorbed without a second shift or capital add.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0" y="546811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E7F4F2"/>
          </a:solidFill>
          <a:ln w="12700">
            <a:solidFill>
              <a:srgbClr val="BFE3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0" y="55504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E8C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955280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artifact to Lockheed Martin Corp (CAGE 81755)</a:t>
            </a:r>
            <a:pPr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match: cage uei   ·   high confidence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WATCH ITEMS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could bend the number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052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57400"/>
            <a:ext cx="274320" cy="274320"/>
          </a:xfrm>
          <a:prstGeom prst="ellipse">
            <a:avLst/>
          </a:prstGeom>
          <a:solidFill>
            <a:srgbClr val="D6533C"/>
          </a:solidFill>
          <a:ln w="12700">
            <a:solidFill>
              <a:srgbClr val="D653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286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 ceiling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286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Winning F-35 without added capacity risks on-time delivery on existing backlog.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8160" y="1737360"/>
            <a:ext cx="35052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8200" y="2057400"/>
            <a:ext cx="274320" cy="274320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8200" y="2514600"/>
            <a:ext cx="286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Single-prime concentration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48200" y="3200400"/>
            <a:ext cx="286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Lockheed would exceed 40% of bookings; diversify with the Spirit re-shore lane.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07680" y="1737360"/>
            <a:ext cx="350520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AEF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7720" y="2057400"/>
            <a:ext cx="274320" cy="274320"/>
          </a:xfrm>
          <a:prstGeom prst="ellipse">
            <a:avLst/>
          </a:prstGeom>
          <a:solidFill>
            <a:srgbClr val="E0A93B"/>
          </a:solidFill>
          <a:ln w="12700">
            <a:solidFill>
              <a:srgbClr val="E0A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7720" y="2514600"/>
            <a:ext cx="286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ITAR data-handling change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427720" y="3200400"/>
            <a:ext cx="2865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guidance may add compliance cost to machining-data workflows; assess by Q4.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37744" cy="237744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5212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ACTIONS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8412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do next, and who owns it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2926080"/>
                <a:gridCol w="20116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Action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Account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 lot-19 build-to-print RFQ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Lockheed Martin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VP Sales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days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 Fort Worth second shift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COO / Board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quarter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Qualify Spirit re-shore lane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Spirit AeroSystems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BD Lead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weeks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 ITAR data-handling change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Internal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2263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Q4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5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21208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E7F4F2"/>
          </a:solidFill>
          <a:ln w="12700">
            <a:solidFill>
              <a:srgbClr val="BFE3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29437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E8C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31520" y="546811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 artifact to Lockheed Martin Corp (CAGE 81755)</a:t>
            </a:r>
            <a:pPr indent="0" marL="0">
              <a:buNone/>
            </a:pPr>
            <a:r>
              <a:rPr lang="en-US" sz="10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match: cage uei   ·   high confidence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 Revenue Brain   ·   Confidential · Illustrative sample data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7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FB6A8"/>
          </a:solidFill>
          <a:ln w="12700">
            <a:solidFill>
              <a:srgbClr val="2FB6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BTX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this quarter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a Fort Worth second shift to convert the F-35 sustainment opening. The demand is evidenced, the fit is 91%, and capacity is the only thing standing between backlog and bookings.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064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EC3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HubSpot CRM · monitor-engine market artifacts · ERP capacity · SAM.gov entity registry. Account links resolved via canonical relationship records. Figures illustrative.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BTX Revenue Brain</dc:subject>
  <dc:creator>BTX Revenue Brain</dc:creator>
  <cp:lastModifiedBy>BTX Revenue Brain</cp:lastModifiedBy>
  <cp:revision>1</cp:revision>
  <dcterms:created xsi:type="dcterms:W3CDTF">2026-07-12T12:55:15Z</dcterms:created>
  <dcterms:modified xsi:type="dcterms:W3CDTF">2026-07-12T12:55:15Z</dcterms:modified>
</cp:coreProperties>
</file>