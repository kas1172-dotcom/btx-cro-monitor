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Bookings ($M)</c:v>
                </c:pt>
              </c:strCache>
            </c:strRef>
          </c:tx>
          <c:spPr>
            <a:solidFill>
              <a:srgbClr val="2FB6A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263A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Q4 FY25</c:v>
                  </c:pt>
                  <c:pt idx="1">
                    <c:v>Q1 FY26</c:v>
                  </c:pt>
                  <c:pt idx="2">
                    <c:v>Q2 FY26</c:v>
                  </c:pt>
                  <c:pt idx="3">
                    <c:v>Q3 FY26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14.2</c:v>
                </c:pt>
                <c:pt idx="1">
                  <c:v>15.1</c:v>
                </c:pt>
                <c:pt idx="2">
                  <c:v>16.4</c:v>
                </c:pt>
                <c:pt idx="3">
                  <c:v>18.4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Backlog ($M)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263A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Q4 FY25</c:v>
                  </c:pt>
                  <c:pt idx="1">
                    <c:v>Q1 FY26</c:v>
                  </c:pt>
                  <c:pt idx="2">
                    <c:v>Q2 FY26</c:v>
                  </c:pt>
                  <c:pt idx="3">
                    <c:v>Q3 FY26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38</c:v>
                </c:pt>
                <c:pt idx="1">
                  <c:v>40.2</c:v>
                </c:pt>
                <c:pt idx="2">
                  <c:v>41.1</c:v>
                </c:pt>
                <c:pt idx="3">
                  <c:v>44.6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2263A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787"/>
                    </a:solidFill>
                    <a:latin typeface="Inter"/>
                  </a:defRPr>
                </a:pPr>
                <a:r>
                  <a:rPr sz="1000" b="0" i="0" u="none" strike="noStrike">
                    <a:solidFill>
                      <a:srgbClr val="6B7787"/>
                    </a:solidFill>
                    <a:latin typeface="Inter"/>
                  </a:rPr>
                  <a:t>Fiscal quarter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787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787"/>
                    </a:solidFill>
                    <a:latin typeface="Inter"/>
                  </a:defRPr>
                </a:pPr>
                <a:r>
                  <a:rPr sz="1000" b="0" i="0" u="none" strike="noStrike">
                    <a:solidFill>
                      <a:srgbClr val="6B7787"/>
                    </a:solidFill>
                    <a:latin typeface="Inter"/>
                  </a:rPr>
                  <a:t>$ millions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78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6B7787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Utilization %</c:v>
                </c:pt>
              </c:strCache>
            </c:strRef>
          </c:tx>
          <c:spPr>
            <a:solidFill>
              <a:srgbClr val="2FB6A8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263A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B6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B6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E7CB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Fort Worth</c:v>
                  </c:pt>
                  <c:pt idx="1">
                    <c:v>Wichita</c:v>
                  </c:pt>
                  <c:pt idx="2">
                    <c:v>Tulsa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93</c:v>
                </c:pt>
                <c:pt idx="1">
                  <c:v>88</c:v>
                </c:pt>
                <c:pt idx="2">
                  <c:v>71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2263A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787"/>
                    </a:solidFill>
                    <a:latin typeface="Inter"/>
                  </a:defRPr>
                </a:pPr>
                <a:r>
                  <a:rPr sz="1000" b="0" i="0" u="none" strike="noStrike">
                    <a:solidFill>
                      <a:srgbClr val="6B7787"/>
                    </a:solidFill>
                    <a:latin typeface="Inter"/>
                  </a:rPr>
                  <a:t>Facility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263A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l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787"/>
                    </a:solidFill>
                    <a:latin typeface="Inter"/>
                  </a:defRPr>
                </a:pPr>
                <a:r>
                  <a:rPr sz="1000" b="0" i="0" u="none" strike="noStrike">
                    <a:solidFill>
                      <a:srgbClr val="6B7787"/>
                    </a:solidFill>
                    <a:latin typeface="Inter"/>
                  </a:rPr>
                  <a:t>Capacity utilization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BTX Revenue Brain quarterly board review. All figures illustrative sample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summary: five headline metrics, then the three things that actually changed and why they matter to revenue.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Bookings vs backlog over four quarters. Point: healthy demand, capacity-limited conversion.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Account deep-dive with the signature provenance block. Fit, signal, scope pills, recommended action with owner/due, and the source relationship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Tiered signals. Note that market-scope items are shown honestly as portfolio-level / unlinked, never pinned to a specific account without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Capacity is BTX's differentiator view: ties machining capacity to the demand signal. Fort Worth is the constraint; the board ask is a second shift.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watch items with severity dots. Concentration and capacity are the two the board should weigh against the F-35 upside.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Action table maps each recommendation to account, owner, and due date, the durable work-loop output. Provenance confirms each links to a real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single decision. Restate the evidence chain and list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2FB6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BTX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88720" y="199339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FB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BRAIN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Quarterly Revenue &amp; Account Board Review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C3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Signal-to-action intelligence for precision machining &amp; defense supply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852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FY26 · Q3 Board Packet</a:t>
            </a:r>
            <a:pPr indent="0" marL="0">
              <a:buNone/>
            </a:pPr>
            <a:r>
              <a:rPr lang="en-US" sz="1200" dirty="0">
                <a:solidFill>
                  <a:srgbClr val="8AA0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37744" cy="237744"/>
          </a:xfrm>
          <a:prstGeom prst="ellipse">
            <a:avLst/>
          </a:prstGeom>
          <a:solidFill>
            <a:srgbClr val="2FB6A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212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B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quarter in four numbers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AEFF5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3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810512"/>
            <a:ext cx="146304" cy="146304"/>
          </a:xfrm>
          <a:prstGeom prst="ellipse">
            <a:avLst/>
          </a:prstGeom>
          <a:solidFill>
            <a:srgbClr val="2FB6A8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38528"/>
            <a:ext cx="2075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$18.4M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04672" y="25786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Bookings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279806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+12% vs prior quarter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55448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AEFF5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3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02152" y="1810512"/>
            <a:ext cx="146304" cy="146304"/>
          </a:xfrm>
          <a:prstGeom prst="ellipse">
            <a:avLst/>
          </a:prstGeom>
          <a:solidFill>
            <a:srgbClr val="3FA66A"/>
          </a:solidFill>
          <a:ln/>
        </p:spPr>
      </p:sp>
      <p:sp>
        <p:nvSpPr>
          <p:cNvPr id="12" name="Text 10"/>
          <p:cNvSpPr/>
          <p:nvPr/>
        </p:nvSpPr>
        <p:spPr>
          <a:xfrm>
            <a:off x="3465576" y="1938528"/>
            <a:ext cx="2075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1.18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502152" y="25786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Book-to-bill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02152" y="279806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Above 1.0 target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0" y="155448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AEFF5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3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99632" y="1810512"/>
            <a:ext cx="146304" cy="146304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17" name="Text 15"/>
          <p:cNvSpPr/>
          <p:nvPr/>
        </p:nvSpPr>
        <p:spPr>
          <a:xfrm>
            <a:off x="6163056" y="1938528"/>
            <a:ext cx="2075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87%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199632" y="25786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 used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99632" y="279806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Approaching ceiling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641080" y="155448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AEFF5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3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897112" y="1810512"/>
            <a:ext cx="146304" cy="146304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22" name="Text 20"/>
          <p:cNvSpPr/>
          <p:nvPr/>
        </p:nvSpPr>
        <p:spPr>
          <a:xfrm>
            <a:off x="8860536" y="1938528"/>
            <a:ext cx="2075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$42.1M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8897112" y="25786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Qualified pipeline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897112" y="279806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3.1x coverage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changed this quarter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8640" y="3886200"/>
            <a:ext cx="164592" cy="164592"/>
          </a:xfrm>
          <a:prstGeom prst="ellipse">
            <a:avLst/>
          </a:prstGeom>
          <a:solidFill>
            <a:srgbClr val="3FA66A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3785616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F-35 sustainment demand is accelerating   </a:t>
            </a:r>
            <a:pPr indent="0" marL="0">
              <a:buNone/>
            </a:pPr>
            <a:r>
              <a:rPr lang="en-US" sz="125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Lockheed lot-19 spares create a build-to-print opening matched to BTX 5-axis capacity.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544568"/>
            <a:ext cx="164592" cy="164592"/>
          </a:xfrm>
          <a:prstGeom prst="ellipse">
            <a:avLst/>
          </a:prstGeom>
          <a:solidFill>
            <a:srgbClr val="2FB6A8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4443984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tier-1 supplier delay opens a re-shore lane   </a:t>
            </a:r>
            <a:pPr indent="0" marL="0">
              <a:buNone/>
            </a:pPr>
            <a:r>
              <a:rPr lang="en-US" sz="125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Spirit AeroSystems structures slip; two programs need a domestic AS9100 machining partner.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5202936"/>
            <a:ext cx="164592" cy="164592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51023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 is the binding constraint, not demand   </a:t>
            </a:r>
            <a:pPr indent="0" marL="0">
              <a:buNone/>
            </a:pPr>
            <a:r>
              <a:rPr lang="en-US" sz="125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facilities cross 90% utilization; winning more requires a capacity decision.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BTX Revenue Brain</a:t>
            </a:r>
            <a:pPr algn="l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Confidential · Illustrative sample data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37744" cy="237744"/>
          </a:xfrm>
          <a:prstGeom prst="ellipse">
            <a:avLst/>
          </a:prstGeom>
          <a:solidFill>
            <a:srgbClr val="2FB6A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212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B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SNAPSHOT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Bookings and backlog trend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463040"/>
          <a:ext cx="69494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5321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Figure 1.  </a:t>
            </a:r>
            <a:pPr indent="0" marL="0">
              <a:buNone/>
            </a:pPr>
            <a:r>
              <a:rPr lang="en-US" sz="10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Bookings and backlog by fiscal quarter ($M). Bookings rose 12% to $18.4M; backlog is growing faster, indicating capacity-limited conversion.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772400" y="1554480"/>
            <a:ext cx="3840480" cy="44805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AEF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B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46720" y="2057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Backlog is growing faster than bookings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46720" y="278892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Book-to-bill held at 1.18 for a third straight quarter. Demand is not the problem; converting backlog against finite capacity is. The board decision this quarter is capacity, covered on slide 6.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72400" y="5468112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E7F4F2"/>
          </a:solidFill>
          <a:ln w="12700">
            <a:solidFill>
              <a:srgbClr val="BFE3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55280" y="55504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E8C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955280" y="57241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HubSpot deals + ERP bookings</a:t>
            </a:r>
            <a:pPr indent="0" marL="0">
              <a:buNone/>
            </a:pPr>
            <a:r>
              <a:rPr lang="en-US" sz="10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match: canonical account roll-up   ·   high confidence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BTX Revenue Brain</a:t>
            </a:r>
            <a:pPr algn="l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Confidential · Illustrative sample data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37744" cy="237744"/>
          </a:xfrm>
          <a:prstGeom prst="ellipse">
            <a:avLst/>
          </a:prstGeom>
          <a:solidFill>
            <a:srgbClr val="2FB6A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212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B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 IN FOCUS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Lockheed Martin: F-35 sustainment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57784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AEF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B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Capability fit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91%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017520" y="21488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5-axis CNC · build-to-print · AS9100 · ITAR-registered, matched against lot-19 spares scope.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246120"/>
            <a:ext cx="1243584" cy="256032"/>
          </a:xfrm>
          <a:prstGeom prst="roundRect">
            <a:avLst>
              <a:gd name="adj" fmla="val 50000"/>
            </a:avLst>
          </a:prstGeom>
          <a:solidFill>
            <a:srgbClr val="12263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46120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 ACCOUNT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03704" y="3246120"/>
            <a:ext cx="1106424" cy="256032"/>
          </a:xfrm>
          <a:prstGeom prst="roundRect">
            <a:avLst>
              <a:gd name="adj" fmla="val 50000"/>
            </a:avLst>
          </a:prstGeom>
          <a:solidFill>
            <a:srgbClr val="3FA66A"/>
          </a:solidFill>
          <a:ln/>
        </p:spPr>
      </p:sp>
      <p:sp>
        <p:nvSpPr>
          <p:cNvPr id="12" name="Text 10"/>
          <p:cNvSpPr/>
          <p:nvPr/>
        </p:nvSpPr>
        <p:spPr>
          <a:xfrm>
            <a:off x="2203704" y="3246120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 AWARD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47288" y="3246120"/>
            <a:ext cx="832104" cy="256032"/>
          </a:xfrm>
          <a:prstGeom prst="roundRect">
            <a:avLst>
              <a:gd name="adj" fmla="val 50000"/>
            </a:avLst>
          </a:prstGeom>
          <a:solidFill>
            <a:srgbClr val="2FB6A8"/>
          </a:solidFill>
          <a:ln/>
        </p:spPr>
      </p:sp>
      <p:sp>
        <p:nvSpPr>
          <p:cNvPr id="14" name="Text 12"/>
          <p:cNvSpPr/>
          <p:nvPr/>
        </p:nvSpPr>
        <p:spPr>
          <a:xfrm>
            <a:off x="3447288" y="3246120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VALUE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22960" y="36118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signal:  “Lockheed awards F-35 lot-19 sustainment; spares volume rises into FY27.”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1600200"/>
            <a:ext cx="5212080" cy="2788920"/>
          </a:xfrm>
          <a:prstGeom prst="roundRect">
            <a:avLst>
              <a:gd name="adj" fmla="val 2623"/>
            </a:avLst>
          </a:prstGeom>
          <a:solidFill>
            <a:srgbClr val="12263A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1810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B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 ACTION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212140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 build-to-print RFQ conversation on lot-19 spares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75120" y="3200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C3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VP Sales</a:t>
            </a:r>
            <a:pPr indent="0" marL="0">
              <a:buNone/>
            </a:pPr>
            <a:r>
              <a:rPr lang="en-US" sz="1200" b="1" dirty="0">
                <a:solidFill>
                  <a:srgbClr val="AEC3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Due: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business days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0" y="35204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C3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outreach + capabilities one-pager are prepared and awaiting approval.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E7F4F2"/>
          </a:solidFill>
          <a:ln w="12700">
            <a:solidFill>
              <a:srgbClr val="BFE3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6542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E8C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31520" y="482803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artifact → Lockheed Martin Corp (CAGE 81755)</a:t>
            </a:r>
            <a:pPr indent="0" marL="0">
              <a:buNone/>
            </a:pPr>
            <a:r>
              <a:rPr lang="en-US" sz="10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match: CAGE + program (F-35)   ·   high confidence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account claim on this page resolves through a canonical-account relationship record, not a text guess.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BTX Revenue Brain</a:t>
            </a:r>
            <a:pPr algn="l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Confidential · Illustrative sample data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37744" cy="237744"/>
          </a:xfrm>
          <a:prstGeom prst="ellipse">
            <a:avLst/>
          </a:prstGeom>
          <a:solidFill>
            <a:srgbClr val="2FB6A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212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B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SIGNALS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changed, tiered by relevance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EF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965960"/>
            <a:ext cx="182880" cy="182880"/>
          </a:xfrm>
          <a:prstGeom prst="ellipse">
            <a:avLst/>
          </a:prstGeom>
          <a:solidFill>
            <a:srgbClr val="3FA66A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728216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Lockheed F-35 lot-19 sustainment award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88720" y="209397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Lockheed Martin Corp · CAGE match · high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784080" y="1929384"/>
            <a:ext cx="1243584" cy="256032"/>
          </a:xfrm>
          <a:prstGeom prst="roundRect">
            <a:avLst>
              <a:gd name="adj" fmla="val 50000"/>
            </a:avLst>
          </a:prstGeom>
          <a:solidFill>
            <a:srgbClr val="3FA66A"/>
          </a:solidFill>
          <a:ln/>
        </p:spPr>
      </p:sp>
      <p:sp>
        <p:nvSpPr>
          <p:cNvPr id="10" name="Text 8"/>
          <p:cNvSpPr/>
          <p:nvPr/>
        </p:nvSpPr>
        <p:spPr>
          <a:xfrm>
            <a:off x="9784080" y="1929384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 ACCOUNT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2633472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EF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2999232"/>
            <a:ext cx="182880" cy="182880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276148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Spirit AeroSystems structures schedule slip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88720" y="31272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Spirit AeroSystems · program match · medium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784080" y="2962656"/>
            <a:ext cx="626364" cy="256032"/>
          </a:xfrm>
          <a:prstGeom prst="roundRect">
            <a:avLst>
              <a:gd name="adj" fmla="val 50000"/>
            </a:avLst>
          </a:prstGeom>
          <a:solidFill>
            <a:srgbClr val="E0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9784080" y="2962656"/>
            <a:ext cx="6263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3666744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EF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4032504"/>
            <a:ext cx="182880" cy="182880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37947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DoD FY27 budget lifts precision-component demand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88720" y="41605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Portfolio-level · unlinked · n/a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784080" y="3995928"/>
            <a:ext cx="557784" cy="256032"/>
          </a:xfrm>
          <a:prstGeom prst="roundRect">
            <a:avLst>
              <a:gd name="adj" fmla="val 50000"/>
            </a:avLst>
          </a:prstGeom>
          <a:solidFill>
            <a:srgbClr val="3E7CB1"/>
          </a:solidFill>
          <a:ln/>
        </p:spPr>
      </p:sp>
      <p:sp>
        <p:nvSpPr>
          <p:cNvPr id="22" name="Text 20"/>
          <p:cNvSpPr/>
          <p:nvPr/>
        </p:nvSpPr>
        <p:spPr>
          <a:xfrm>
            <a:off x="9784080" y="3995928"/>
            <a:ext cx="557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8640" y="4700016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EF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" y="5065776"/>
            <a:ext cx="182880" cy="182880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25" name="Text 23"/>
          <p:cNvSpPr/>
          <p:nvPr/>
        </p:nvSpPr>
        <p:spPr>
          <a:xfrm>
            <a:off x="1188720" y="482803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ITAR guidance on machining data handling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188720" y="519379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Portfolio-level · unlinked · n/a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784080" y="5029200"/>
            <a:ext cx="557784" cy="256032"/>
          </a:xfrm>
          <a:prstGeom prst="roundRect">
            <a:avLst>
              <a:gd name="adj" fmla="val 50000"/>
            </a:avLst>
          </a:prstGeom>
          <a:solidFill>
            <a:srgbClr val="3E7CB1"/>
          </a:solidFill>
          <a:ln/>
        </p:spPr>
      </p:sp>
      <p:sp>
        <p:nvSpPr>
          <p:cNvPr id="28" name="Text 26"/>
          <p:cNvSpPr/>
          <p:nvPr/>
        </p:nvSpPr>
        <p:spPr>
          <a:xfrm>
            <a:off x="9784080" y="5029200"/>
            <a:ext cx="557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BTX Revenue Brain</a:t>
            </a:r>
            <a:pPr algn="l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Confidential · Illustrative sample data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37744" cy="237744"/>
          </a:xfrm>
          <a:prstGeom prst="ellipse">
            <a:avLst/>
          </a:prstGeom>
          <a:solidFill>
            <a:srgbClr val="2FB6A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212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B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 ASSESSMENT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binding constraint on growth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554480"/>
          <a:ext cx="67665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4864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Figure 2.  </a:t>
            </a:r>
            <a:pPr indent="0" marL="0">
              <a:buNone/>
            </a:pPr>
            <a:r>
              <a:rPr lang="en-US" sz="10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Facility capacity utilization, current quarter (%). Fort Worth at 93% is the binding constraint; Tulsa at 71% has headroom but lacks the AS9100 line for this scope.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589520" y="1645920"/>
            <a:ext cx="4023360" cy="42976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AEF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6384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B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863840" y="21488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Fort Worth is effectively full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863840" y="288036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93% utilization, the F-35 opportunity cannot be absorbed without a second shift or capital add. Tulsa has headroom but lacks the AS9100 line for this scope.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863840" y="50292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Ask: </a:t>
            </a:r>
            <a:pPr indent="0" marL="0">
              <a:buNone/>
            </a:pPr>
            <a:r>
              <a:rPr lang="en-US" sz="125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a Fort Worth second shift to capture lot-19.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BTX Revenue Brain</a:t>
            </a:r>
            <a:pPr algn="l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Confidential · Illustrative sample data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37744" cy="237744"/>
          </a:xfrm>
          <a:prstGeom prst="ellipse">
            <a:avLst/>
          </a:prstGeom>
          <a:solidFill>
            <a:srgbClr val="2FB6A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212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B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RISKS &amp; WATCH ITEMS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could bend the number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052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AEF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57400"/>
            <a:ext cx="274320" cy="274320"/>
          </a:xfrm>
          <a:prstGeom prst="ellipse">
            <a:avLst/>
          </a:prstGeom>
          <a:solidFill>
            <a:srgbClr val="D6533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14600"/>
            <a:ext cx="286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 ceiling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2865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Winning F-35 without added capacity risks on-time delivery on existing backlog.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8160" y="1737360"/>
            <a:ext cx="35052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AEF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48200" y="2057400"/>
            <a:ext cx="274320" cy="274320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11" name="Text 9"/>
          <p:cNvSpPr/>
          <p:nvPr/>
        </p:nvSpPr>
        <p:spPr>
          <a:xfrm>
            <a:off x="4648200" y="2514600"/>
            <a:ext cx="286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Single-prime concentration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48200" y="3200400"/>
            <a:ext cx="2865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Lockheed would exceed 40% of bookings; diversify with the Spirit re-shore lane.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07680" y="1737360"/>
            <a:ext cx="35052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AEF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27720" y="2057400"/>
            <a:ext cx="274320" cy="274320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15" name="Text 13"/>
          <p:cNvSpPr/>
          <p:nvPr/>
        </p:nvSpPr>
        <p:spPr>
          <a:xfrm>
            <a:off x="8427720" y="2514600"/>
            <a:ext cx="286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ITAR data-handling change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27720" y="3200400"/>
            <a:ext cx="2865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guidance may add compliance cost to machining-data workflows; assess by Q4.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BTX Revenue Brain</a:t>
            </a:r>
            <a:pPr algn="l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Confidential · Illustrative sample data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37744" cy="237744"/>
          </a:xfrm>
          <a:prstGeom prst="ellipse">
            <a:avLst/>
          </a:prstGeom>
          <a:solidFill>
            <a:srgbClr val="2FB6A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212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B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 ACTIONS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do next, and who owns it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2926080"/>
                <a:gridCol w="201168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Account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Owner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Due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Open lot-19 build-to-print RFQ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Lockheed Martin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VP Sales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 days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Approve Fort Worth second shift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Internal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COO / Board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This quarter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Qualify Spirit re-shore lane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Spirit AeroSystems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BD Lead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 weeks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Scope ITAR data-handling change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Internal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Compliance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Q4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E7F4F2"/>
          </a:solidFill>
          <a:ln w="12700">
            <a:solidFill>
              <a:srgbClr val="BFE3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529437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E8C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31520" y="546811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Generated from work-item queue</a:t>
            </a:r>
            <a:pPr indent="0" marL="0">
              <a:buNone/>
            </a:pPr>
            <a:r>
              <a:rPr lang="en-US" sz="10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match: canonical account + relationship record   ·   high confidence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BTX Revenue Brain</a:t>
            </a:r>
            <a:pPr algn="l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Confidential · Illustrative sample data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2FB6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BTX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decision this quarter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370332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C3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a Fort Worth second shift to convert the F-35 sustainment opening. The demand is evidenced, the fit is 91%, and capacity is the only thing standing between backlog and bookings.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58064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3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HubSpot CRM · monitor-engine market artifacts · ERP capacity · SAM.gov entity registry. Account links resolved via canonical relationship records. Figures illustrative.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BTX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BTX Revenue Brain</dc:creator>
  <cp:lastModifiedBy>BTX Revenue Brain</cp:lastModifiedBy>
  <cp:revision>1</cp:revision>
  <dcterms:created xsi:type="dcterms:W3CDTF">2026-07-12T11:46:07Z</dcterms:created>
  <dcterms:modified xsi:type="dcterms:W3CDTF">2026-07-12T11:46:07Z</dcterms:modified>
</cp:coreProperties>
</file>